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4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68680" y="1325880"/>
            <a:ext cx="996696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 dirty="0">
                <a:solidFill>
                  <a:srgbClr val="18374D"/>
                </a:solidFill>
                <a:latin typeface="Aptos Display"/>
              </a:rPr>
              <a:t>Skin Lesion Analysis</a:t>
            </a:r>
          </a:p>
          <a:p>
            <a:r>
              <a:rPr sz="2200" dirty="0">
                <a:solidFill>
                  <a:srgbClr val="248B8D"/>
                </a:solidFill>
                <a:latin typeface="Aptos"/>
              </a:rPr>
              <a:t>SQL Healthcare Data Analysis</a:t>
            </a:r>
          </a:p>
          <a:p>
            <a:pPr>
              <a:spcBef>
                <a:spcPts val="1600"/>
              </a:spcBef>
            </a:pPr>
            <a:r>
              <a:rPr sz="1600" dirty="0">
                <a:solidFill>
                  <a:srgbClr val="233038"/>
                </a:solidFill>
                <a:latin typeface="Aptos"/>
              </a:rPr>
              <a:t>Exploring demographics, lesion characteristics and recorded risk factors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3931920"/>
            <a:ext cx="3017520" cy="105156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TOOLS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PostgreSQL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SQL • joins • aggregation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3931920"/>
            <a:ext cx="3017520" cy="105156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FOCUS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Healthcare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descriptive analytics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60920" y="3931920"/>
            <a:ext cx="3017520" cy="105156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OUTPUT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Portfolio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analysis • insights • recommendations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A85"/>
                </a:solidFill>
                <a:latin typeface="Aptos"/>
              </a:rPr>
              <a:t>SQL Healthcare Data Analysis  •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374D"/>
                </a:solidFill>
                <a:latin typeface="Aptos Display"/>
              </a:rPr>
              <a:t>Project Objective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43891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48B8D"/>
                </a:solidFill>
                <a:latin typeface="Aptos"/>
              </a:rPr>
              <a:t>CONTEXT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24128"/>
            <a:ext cx="10927080" cy="18288"/>
          </a:xfrm>
          <a:prstGeom prst="rect">
            <a:avLst/>
          </a:prstGeom>
          <a:solidFill>
            <a:srgbClr val="D3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OBJECTIVE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Explore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patient demographics, lesion characteristics, lifestyle factors and environmental variables associated with skin lesion diagnoses.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383280" cy="137160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DATA MODEL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2 tables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patient-level characteristics joined to lesion-level diagnostic records using patient_id.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1417320"/>
            <a:ext cx="3383280" cy="137160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APPROACH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Descriptive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SQL analysis to identify patterns and associations; not causal or predictive modelling.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Transform coded diagnosis values into analytically useful malignant and benign groupings.</a:t>
            </a:r>
          </a:p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Compare demographic and behavioural groups using counts and within-group percentages.</a:t>
            </a:r>
          </a:p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Explore lesion diameter, growth and symptom patterns.</a:t>
            </a:r>
          </a:p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Translate results into cautious, evidence-aligned recommendations for further analysis.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A85"/>
                </a:solidFill>
                <a:latin typeface="Aptos"/>
              </a:rPr>
              <a:t>SQL Healthcare Data Analysis  •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374D"/>
                </a:solidFill>
                <a:latin typeface="Aptos Display"/>
              </a:rPr>
              <a:t>Analysis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43891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48B8D"/>
                </a:solidFill>
                <a:latin typeface="Aptos"/>
              </a:rPr>
              <a:t>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24128"/>
            <a:ext cx="10927080" cy="18288"/>
          </a:xfrm>
          <a:prstGeom prst="rect">
            <a:avLst/>
          </a:prstGeom>
          <a:solidFill>
            <a:srgbClr val="D3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685800" y="1828800"/>
            <a:ext cx="205740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STEP 1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Join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Connect patient and lesion tables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953512" y="1828800"/>
            <a:ext cx="205740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STEP 2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Transform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CASE classifications and age bands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21224" y="1828800"/>
            <a:ext cx="205740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STEP 3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Aggregate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COUNT, AVG, GROUP BY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88936" y="1828800"/>
            <a:ext cx="205740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STEP 4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Compare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FILTER, percentages and window calculations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756648" y="1828800"/>
            <a:ext cx="2057400" cy="233172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STEP 5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Interpret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Separate descriptive findings from causal claims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120640"/>
            <a:ext cx="10515600" cy="384048"/>
          </a:xfrm>
          <a:prstGeom prst="roundRect">
            <a:avLst/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i="1">
                <a:solidFill>
                  <a:srgbClr val="667A85"/>
                </a:solidFill>
                <a:latin typeface="Aptos"/>
              </a:rPr>
              <a:t>Portfolio SQL also demonstrates ORDER BY, UNION ALL and conditional aggregation.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A85"/>
                </a:solidFill>
                <a:latin typeface="Aptos"/>
              </a:rPr>
              <a:t>SQL Healthcare Data Analysis  •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374D"/>
                </a:solidFill>
                <a:latin typeface="Aptos Display"/>
              </a:rPr>
              <a:t>Demographic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43891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48B8D"/>
                </a:solidFill>
                <a:latin typeface="Aptos"/>
              </a:rPr>
              <a:t>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24128"/>
            <a:ext cx="10927080" cy="18288"/>
          </a:xfrm>
          <a:prstGeom prst="rect">
            <a:avLst/>
          </a:prstGeom>
          <a:solidFill>
            <a:srgbClr val="D3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AGE GROUP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460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lesion diagnoses among adults aged 60–79 — the largest age-group count.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MALE PATIENTS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66.7%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726 of 1,088 patients in the dataset.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17320"/>
            <a:ext cx="3383280" cy="141732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FEMALE PATIENTS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33.3%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362 of 1,088 patients in the dataset.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337560"/>
            <a:ext cx="102412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Older adults (60–79) accounted for the largest number of lesion diagnoses.</a:t>
            </a:r>
          </a:p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The dataset contained approximately twice as many male as female patients.</a:t>
            </a:r>
          </a:p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This describes the sample distribution and does not establish a population-level difference in risk.</a:t>
            </a:r>
          </a:p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Face, chest, nose, back and forearm recorded the highest counts of malignant lesions.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A85"/>
                </a:solidFill>
                <a:latin typeface="Aptos"/>
              </a:rPr>
              <a:t>SQL Healthcare Data Analysis  •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374D"/>
                </a:solidFill>
                <a:latin typeface="Aptos Display"/>
              </a:rPr>
              <a:t>Lesion Characteristics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43891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48B8D"/>
                </a:solidFill>
                <a:latin typeface="Aptos"/>
              </a:rPr>
              <a:t>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24128"/>
            <a:ext cx="10927080" cy="18288"/>
          </a:xfrm>
          <a:prstGeom prst="rect">
            <a:avLst/>
          </a:prstGeom>
          <a:solidFill>
            <a:srgbClr val="D3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37160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MOST FREQUENT DIAGNOSIS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ACK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Actinic keratosis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37160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BIOPSIED LESIONS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458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lesions recorded as biopsied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17320"/>
            <a:ext cx="3383280" cy="137160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LARGEST AVG. DIAMETER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14.09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Melanoma (MEL)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234440" y="3246120"/>
            <a:ext cx="438912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MALIGNANT LESIONS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74.9% growing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259 of 346 malignant lesions were recorded as growing.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3246120"/>
            <a:ext cx="438912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BENIGN LESIONS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33.8% growing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251 of 742 benign lesions were recorded as growing.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5577840"/>
            <a:ext cx="10515600" cy="384048"/>
          </a:xfrm>
          <a:prstGeom prst="roundRect">
            <a:avLst/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i="1">
                <a:solidFill>
                  <a:srgbClr val="667A85"/>
                </a:solidFill>
                <a:latin typeface="Aptos"/>
              </a:rPr>
              <a:t>Growth and diameter are descriptive characteristics in this dataset; they are not presented as standalone clinical predictors.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A85"/>
                </a:solidFill>
                <a:latin typeface="Aptos"/>
              </a:rPr>
              <a:t>SQL Healthcare Data Analysis  •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374D"/>
                </a:solidFill>
                <a:latin typeface="Aptos Display"/>
              </a:rPr>
              <a:t>Environmental Health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43891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48B8D"/>
                </a:solidFill>
                <a:latin typeface="Aptos"/>
              </a:rPr>
              <a:t>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24128"/>
            <a:ext cx="10927080" cy="18288"/>
          </a:xfrm>
          <a:prstGeom prst="rect">
            <a:avLst/>
          </a:prstGeom>
          <a:solidFill>
            <a:srgbClr val="D3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37560" cy="132588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NO PIPED WATER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782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patients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25696" y="1417320"/>
            <a:ext cx="3337560" cy="132588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NO SEWAGE SYSTEM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815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patients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417320"/>
            <a:ext cx="3337560" cy="132588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COMMON BIOPSY SITES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Face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then chest, nose, back and forearm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46120"/>
            <a:ext cx="1024128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Face, forearm, chest, back and arm were the most common body sites across diagnosed lesions.</a:t>
            </a:r>
          </a:p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No clear association was observed between poorer sanitation access and a higher proportion of malignant lesions.</a:t>
            </a:r>
          </a:p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Within this dataset, malignancy patterns did not appear to differ substantially by sanitation access.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A85"/>
                </a:solidFill>
                <a:latin typeface="Aptos"/>
              </a:rPr>
              <a:t>SQL Healthcare Data Analysis  •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374D"/>
                </a:solidFill>
                <a:latin typeface="Aptos Display"/>
              </a:rPr>
              <a:t>Lifestyle &amp; Behaviour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43891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48B8D"/>
                </a:solidFill>
                <a:latin typeface="Aptos"/>
              </a:rPr>
              <a:t>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24128"/>
            <a:ext cx="10927080" cy="18288"/>
          </a:xfrm>
          <a:prstGeom prst="rect">
            <a:avLst/>
          </a:prstGeom>
          <a:solidFill>
            <a:srgbClr val="D3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55448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SMOKING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75.8% malignant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47 of 62 lesions among smokers, compared with 29.1% among non-smokers.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07408" y="1417320"/>
            <a:ext cx="3383280" cy="155448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ALCOHOL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71.0% malignant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98 of 138 lesions in the alcohol-consumption group, compared with 26.1% without.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83296" y="1417320"/>
            <a:ext cx="3383280" cy="155448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PESTICIDE EXPOSURE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70.0% malignant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156 of 223 lesions with reported exposure, compared with 22.0% without.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749039"/>
            <a:ext cx="10241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Smoking, alcohol consumption and pesticide exposure were each associated with a higher proportion of malignant lesions in this dataset.</a:t>
            </a:r>
          </a:p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These comparisons are unadjusted descriptive associations and do not establish causation.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A85"/>
                </a:solidFill>
                <a:latin typeface="Aptos"/>
              </a:rPr>
              <a:t>SQL Healthcare Data Analysis  •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374D"/>
                </a:solidFill>
                <a:latin typeface="Aptos Display"/>
              </a:rPr>
              <a:t>Recorded Symptoms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43891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48B8D"/>
                </a:solidFill>
                <a:latin typeface="Aptos"/>
              </a:rPr>
              <a:t>FINDINGS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24128"/>
            <a:ext cx="10927080" cy="18288"/>
          </a:xfrm>
          <a:prstGeom prst="rect">
            <a:avLst/>
          </a:prstGeom>
          <a:solidFill>
            <a:srgbClr val="D3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242316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ITCH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670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lesions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1828800"/>
            <a:ext cx="242316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ELEVATION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611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lesions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2316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BLEED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222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lesions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15400" y="1828800"/>
            <a:ext cx="2423160" cy="150876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HURT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151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lesions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977639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Itch and elevation were the most frequently recorded symptoms.</a:t>
            </a:r>
          </a:p>
          <a:p>
            <a:pPr>
              <a:spcAft>
                <a:spcPts val="800"/>
              </a:spcAft>
              <a:defRPr sz="1700">
                <a:solidFill>
                  <a:srgbClr val="233038"/>
                </a:solidFill>
                <a:latin typeface="Aptos"/>
              </a:defRPr>
            </a:pPr>
            <a:r>
              <a:t>• Symptom frequency alone does not determine malignancy; further multivariable analysis would be needed to assess independent associations.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A85"/>
                </a:solidFill>
                <a:latin typeface="Aptos"/>
              </a:rPr>
              <a:t>SQL Healthcare Data Analysis  • 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374D"/>
                </a:solidFill>
                <a:latin typeface="Aptos Display"/>
              </a:rPr>
              <a:t>Key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43891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48B8D"/>
                </a:solidFill>
                <a:latin typeface="Aptos"/>
              </a:rPr>
              <a:t>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24128"/>
            <a:ext cx="10927080" cy="18288"/>
          </a:xfrm>
          <a:prstGeom prst="rect">
            <a:avLst/>
          </a:prstGeom>
          <a:solidFill>
            <a:srgbClr val="D3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1508760"/>
            <a:ext cx="102870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233038"/>
                </a:solidFill>
                <a:latin typeface="Aptos"/>
              </a:defRPr>
            </a:pPr>
            <a:r>
              <a:t>• Older adults accounted for the largest number of lesion diagnoses.</a:t>
            </a:r>
          </a:p>
          <a:p>
            <a:pPr>
              <a:spcAft>
                <a:spcPts val="1200"/>
              </a:spcAft>
              <a:defRPr sz="1800">
                <a:solidFill>
                  <a:srgbClr val="233038"/>
                </a:solidFill>
                <a:latin typeface="Aptos"/>
              </a:defRPr>
            </a:pPr>
            <a:r>
              <a:t>• Malignant lesions were more frequently recorded as growing than benign lesions (74.9% vs 33.8%).</a:t>
            </a:r>
          </a:p>
          <a:p>
            <a:pPr>
              <a:spcAft>
                <a:spcPts val="1200"/>
              </a:spcAft>
              <a:defRPr sz="1800">
                <a:solidFill>
                  <a:srgbClr val="233038"/>
                </a:solidFill>
                <a:latin typeface="Aptos"/>
              </a:defRPr>
            </a:pPr>
            <a:r>
              <a:t>• Melanoma had the largest average lesion diameter (14.09).</a:t>
            </a:r>
          </a:p>
          <a:p>
            <a:pPr>
              <a:spcAft>
                <a:spcPts val="1200"/>
              </a:spcAft>
              <a:defRPr sz="1800">
                <a:solidFill>
                  <a:srgbClr val="233038"/>
                </a:solidFill>
                <a:latin typeface="Aptos"/>
              </a:defRPr>
            </a:pPr>
            <a:r>
              <a:t>• Smoking, alcohol consumption and pesticide exposure were associated with higher proportions of malignant lesions.</a:t>
            </a:r>
          </a:p>
          <a:p>
            <a:pPr>
              <a:spcAft>
                <a:spcPts val="1200"/>
              </a:spcAft>
              <a:defRPr sz="1800">
                <a:solidFill>
                  <a:srgbClr val="233038"/>
                </a:solidFill>
                <a:latin typeface="Aptos"/>
              </a:defRPr>
            </a:pPr>
            <a:r>
              <a:t>• No clear association was observed between poorer sanitation access and malignancy.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i="1">
                <a:solidFill>
                  <a:srgbClr val="667A85"/>
                </a:solidFill>
                <a:latin typeface="Aptos"/>
              </a:rPr>
              <a:t>Findings describe associations within the dataset and do not establish causation or population-level risk.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A85"/>
                </a:solidFill>
                <a:latin typeface="Aptos"/>
              </a:rPr>
              <a:t>SQL Healthcare Data Analysis  • 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374D"/>
                </a:solidFill>
                <a:latin typeface="Aptos Display"/>
              </a:rPr>
              <a:t>Recommendations for Further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43891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48B8D"/>
                </a:solidFill>
                <a:latin typeface="Aptos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24128"/>
            <a:ext cx="10927080" cy="18288"/>
          </a:xfrm>
          <a:prstGeom prst="rect">
            <a:avLst/>
          </a:prstGeom>
          <a:solidFill>
            <a:srgbClr val="D3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1371600"/>
            <a:ext cx="10241280" cy="758952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VALIDATE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Repeat the analysis using a larger and more representative dataset.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04288"/>
            <a:ext cx="10241280" cy="758952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ADJUST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Use multivariable analysis to explore smoking, alcohol and pesticide exposure while accounting for confounding.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3236976"/>
            <a:ext cx="10241280" cy="758952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COMBINE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Assess lesion growth, diameter and symptoms together rather than as isolated characteristics.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4169664"/>
            <a:ext cx="10241280" cy="758952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VISUALISE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Develop an interactive dashboard to monitor demographic, diagnostic and lesion trends.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102352"/>
            <a:ext cx="10241280" cy="758952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GOVERN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Avoid translating descriptive associations into clinical risk recommendations without further validation.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A85"/>
                </a:solidFill>
                <a:latin typeface="Aptos"/>
              </a:rPr>
              <a:t>SQL Healthcare Data Analysis  • 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248B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41148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18374D"/>
                </a:solidFill>
                <a:latin typeface="Aptos Display"/>
              </a:rPr>
              <a:t>Portfolio Skills Demonstrated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66960" y="438912"/>
            <a:ext cx="1554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1">
                <a:solidFill>
                  <a:srgbClr val="248B8D"/>
                </a:solidFill>
                <a:latin typeface="Aptos"/>
              </a:rPr>
              <a:t>CLOSE</a:t>
            </a:r>
          </a:p>
        </p:txBody>
      </p:sp>
      <p:sp>
        <p:nvSpPr>
          <p:cNvPr id="6" name="Rectangle 5"/>
          <p:cNvSpPr/>
          <p:nvPr/>
        </p:nvSpPr>
        <p:spPr>
          <a:xfrm>
            <a:off x="594360" y="1024128"/>
            <a:ext cx="10927080" cy="18288"/>
          </a:xfrm>
          <a:prstGeom prst="rect">
            <a:avLst/>
          </a:prstGeom>
          <a:solidFill>
            <a:srgbClr val="D3E0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77240" y="1463040"/>
            <a:ext cx="3337560" cy="182880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SQL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PostgreSQL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INNER JOIN • CASE • GROUP BY • FILTER • UNION 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463040"/>
            <a:ext cx="3337560" cy="182880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ANALYSIS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Healthcare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descriptive statistics • subgroup comparisons • interpretation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463040"/>
            <a:ext cx="3337560" cy="1828800"/>
          </a:xfrm>
          <a:prstGeom prst="roundRect">
            <a:avLst/>
          </a:prstGeom>
          <a:solidFill>
            <a:srgbClr val="F5F8FA"/>
          </a:solidFill>
          <a:ln>
            <a:solidFill>
              <a:srgbClr val="D3E0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64592" rIns="164592" rtlCol="0" anchor="ctr"/>
          <a:lstStyle/>
          <a:p>
            <a:pPr algn="ctr"/>
            <a:r>
              <a:rPr sz="1100" b="1">
                <a:solidFill>
                  <a:srgbClr val="248B8D"/>
                </a:solidFill>
                <a:latin typeface="Aptos"/>
              </a:rPr>
              <a:t>COMMUNICATION</a:t>
            </a:r>
          </a:p>
          <a:p>
            <a:pPr>
              <a:spcBef>
                <a:spcPts val="500"/>
              </a:spcBef>
            </a:pPr>
            <a:r>
              <a:rPr sz="2500" b="1">
                <a:solidFill>
                  <a:srgbClr val="18374D"/>
                </a:solidFill>
                <a:latin typeface="Aptos Display"/>
              </a:rPr>
              <a:t>Evidence-led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233038"/>
                </a:solidFill>
                <a:latin typeface="Aptos"/>
              </a:rPr>
              <a:t>clear findings • limitations • next-step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069080"/>
            <a:ext cx="1014984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18374D"/>
                </a:solidFill>
                <a:latin typeface="Aptos Display"/>
              </a:rPr>
              <a:t>Marc Riley  |  Healthcare Analytics Portfolio</a:t>
            </a:r>
          </a:p>
          <a:p>
            <a:pPr algn="ctr"/>
            <a:r>
              <a:rPr sz="1400">
                <a:solidFill>
                  <a:srgbClr val="248B8D"/>
                </a:solidFill>
                <a:latin typeface="Aptos"/>
              </a:rPr>
              <a:t>Skin lesion analysis using PostgreSQL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5715000"/>
            <a:ext cx="10058400" cy="384048"/>
          </a:xfrm>
          <a:prstGeom prst="roundRect">
            <a:avLst/>
          </a:prstGeom>
          <a:solidFill>
            <a:srgbClr val="ED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50" i="1">
                <a:solidFill>
                  <a:srgbClr val="667A85"/>
                </a:solidFill>
                <a:latin typeface="Aptos"/>
              </a:rPr>
              <a:t>Simulated healthcare analytics scenario • No real patient-identifiable information presented.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6492240"/>
            <a:ext cx="107899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>
                <a:solidFill>
                  <a:srgbClr val="667A85"/>
                </a:solidFill>
                <a:latin typeface="Aptos"/>
              </a:rPr>
              <a:t>SQL Healthcare Data Analysis  •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883</Words>
  <Application>Microsoft Office PowerPoint</Application>
  <PresentationFormat>Widescreen</PresentationFormat>
  <Paragraphs>166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Skin Lesion Analysis – SQL Healthcare Data Analysis</dc:title>
  <dc:subject>Healthcare analytics portfolio project</dc:subject>
  <dc:creator>Marc Riley</dc:creator>
  <cp:keywords/>
  <dc:description>generated using python-pptx</dc:description>
  <cp:lastModifiedBy>Marc Riley</cp:lastModifiedBy>
  <cp:revision>2</cp:revision>
  <dcterms:created xsi:type="dcterms:W3CDTF">2013-01-27T09:14:16Z</dcterms:created>
  <dcterms:modified xsi:type="dcterms:W3CDTF">2026-09-23T11:18:27Z</dcterms:modified>
  <cp:category/>
</cp:coreProperties>
</file>